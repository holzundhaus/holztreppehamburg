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hamburg/nachhaltigkeit-holztreppe-herkunft-sortierung-reparierbarkeit/" TargetMode="External"/><Relationship Id="rId3" Type="http://schemas.openxmlformats.org/officeDocument/2006/relationships/hyperlink" Target="https://holzundhaus.github.io/holztreppehamburg/dateien/minimax-706a6b01f0b26ba111ab04d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Nachhaltige Holztreppe: Herkunft, Sortierung und spätere Reparierbarkeit · Erklärende Präsentation</a:t>
            </a:r>
          </a:p>
        </p:txBody>
      </p:sp>
      <p:sp>
        <p:nvSpPr>
          <p:cNvPr id="3" name="Content Placeholder 2"/>
          <p:cNvSpPr>
            <a:spLocks noGrp="1"/>
          </p:cNvSpPr>
          <p:nvPr>
            <p:ph idx="1"/>
          </p:nvPr>
        </p:nvSpPr>
        <p:spPr/>
        <p:txBody>
          <a:bodyPr/>
          <a:lstStyle/>
          <a:p>
            <a:r>
              <a:t>Überblick: Eine Holztreppe nachhaltig zu planen heißt, mehr zu prüfen als nur die Holzart. Entscheidend ist, wie offen der Anbieter Auskunft gibt – über Herkunft, Sortierqualität, Trocknung und darüber, welche Bauteile sich später nacharbeiten oder einzeln austauschen lassen. Wer diese Punkte vor der Anfrage gezielt einfordert, schafft die Grundlage, Angebote sachlich zu vergleichen und die Treppe langfristig sinnvoll zu nutzen.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nachvollziehbar machen</a:t>
            </a:r>
          </a:p>
        </p:txBody>
      </p:sp>
      <p:sp>
        <p:nvSpPr>
          <p:cNvPr id="3" name="Content Placeholder 2"/>
          <p:cNvSpPr>
            <a:spLocks noGrp="1"/>
          </p:cNvSpPr>
          <p:nvPr>
            <p:ph idx="1"/>
          </p:nvPr>
        </p:nvSpPr>
        <p:spPr/>
        <p:txBody>
          <a:bodyPr/>
          <a:lstStyle/>
          <a:p>
            <a:pPr>
              <a:defRPr sz="1800"/>
            </a:pPr>
            <a:r>
              <a:t>Eine seriöse Herkunftsangabe beantwortet drei Fragen: Wurde das Holz in Mitteleuropa oder in einer bestimmbaren Region eingeschlagen? Liegt eine dokumentierte Lieferkette vor, die zwischen Rohholz, Einschnitt und Verarbeitung unterscheidet? Wurden die Hölzer so transportiert und gelagert, dass Verformungen und Risse vermieden werden? Wenn ein Anbieter nur „europäische Eiche" nennt, ist das ein Anfang, aber noch keine belastbare Aussage. Achten Sie darauf, dass erkennbar wird, ob die Lieferkette vom Sägewerk bis zum Treppenbau reicht oder ob der genaue Hintergrund offenbleibt. Bei importierten Hölzern ist die Nachvollziehbarkeit der Herkunft 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Herkunft nachvollziehbar machen</a:t>
            </a:r>
          </a:p>
        </p:txBody>
      </p:sp>
      <p:sp>
        <p:nvSpPr>
          <p:cNvPr id="3" name="Content Placeholder 2"/>
          <p:cNvSpPr>
            <a:spLocks noGrp="1"/>
          </p:cNvSpPr>
          <p:nvPr>
            <p:ph idx="1"/>
          </p:nvPr>
        </p:nvSpPr>
        <p:spPr/>
        <p:txBody>
          <a:bodyPr/>
          <a:lstStyle/>
          <a:p>
            <a:pPr>
              <a:defRPr sz="1800"/>
            </a:pPr>
            <a:r>
              <a:t>aturgemäß schwerer zu prüfen als bei Holz aus heimischen Wäldern.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Sortierqualität und Muster bestellen</a:t>
            </a:r>
          </a:p>
        </p:txBody>
      </p:sp>
      <p:sp>
        <p:nvSpPr>
          <p:cNvPr id="3" name="Content Placeholder 2"/>
          <p:cNvSpPr>
            <a:spLocks noGrp="1"/>
          </p:cNvSpPr>
          <p:nvPr>
            <p:ph idx="1"/>
          </p:nvPr>
        </p:nvSpPr>
        <p:spPr/>
        <p:txBody>
          <a:bodyPr/>
          <a:lstStyle/>
          <a:p>
            <a:pPr>
              <a:defRPr sz="1800"/>
            </a:pPr>
            <a:r>
              <a:t>Die Sortierung legt fest, welche Merkmale im Holzbild zugelassen oder gewünscht sind – etwa Astanteil, Splint, Kernholzanteil oder die Gleichmäßigkeit der Maserung. Innerhalb derselben Holzart kann eine sehr ruhige Sortierung deutlich anders wirken als eine Sortierung mit ausgeprägten Astmerkmalen. Fordern Sie daher ein Muster der angebotenen Sortierung an, am besten in der vorgesehenen Breite und Oberfläche. Ein allgemeines Holzfoto bildet weder Lamellenbild noch Sortierdetails zuverlässig ab. Bei verleimten Stufen entscheidet das Lamellenbild darüber, wie die einzelnen Holzstreifen nebeneinander erscheinen – auch das lässt sich nur am Muste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Sortierqualität und Muster bestellen</a:t>
            </a:r>
          </a:p>
        </p:txBody>
      </p:sp>
      <p:sp>
        <p:nvSpPr>
          <p:cNvPr id="3" name="Content Placeholder 2"/>
          <p:cNvSpPr>
            <a:spLocks noGrp="1"/>
          </p:cNvSpPr>
          <p:nvPr>
            <p:ph idx="1"/>
          </p:nvPr>
        </p:nvSpPr>
        <p:spPr/>
        <p:txBody>
          <a:bodyPr/>
          <a:lstStyle/>
          <a:p>
            <a:pPr>
              <a:defRPr sz="1800"/>
            </a:pPr>
            <a:r>
              <a:t>r beurteilen.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Fachgerechte Trocknung als Voraussetzung</a:t>
            </a:r>
          </a:p>
        </p:txBody>
      </p:sp>
      <p:sp>
        <p:nvSpPr>
          <p:cNvPr id="3" name="Content Placeholder 2"/>
          <p:cNvSpPr>
            <a:spLocks noGrp="1"/>
          </p:cNvSpPr>
          <p:nvPr>
            <p:ph idx="1"/>
          </p:nvPr>
        </p:nvSpPr>
        <p:spPr/>
        <p:txBody>
          <a:bodyPr/>
          <a:lstStyle/>
          <a:p>
            <a:pPr>
              <a:defRPr sz="1800"/>
            </a:pPr>
            <a:r>
              <a:t>Holz nimmt Feuchtigkeit auf und gibt sie wieder ab. Dabei verändern sich die Abmessungen. Damit eine Treppe im Raum formstabil bleibt, muss das Holz bei Verarbeitung und Einbau die richtige Feuchte besitzen. Das gilt für jede Holzart; bei Buche, die deutlich schwindet, ist dieser Zusammenhang jedoch besonders spürbar – unpassende Trocknung kann dort zu Verformung und Rissen führen. Eine fachgerechte Trocknung umfasst technische Trocknung auf eine zum Einbau passende Holzfeuchte, ausreichende Ruhezeit nach der Trocknung, kontrollierte Lagerung bis zum Einbau sowie die Anpassung an das spätere Raumklima. Fragen Sie nach der vorgesehenen Holzfeu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Fachgerechte Trocknung als Voraussetzung</a:t>
            </a:r>
          </a:p>
        </p:txBody>
      </p:sp>
      <p:sp>
        <p:nvSpPr>
          <p:cNvPr id="3" name="Content Placeholder 2"/>
          <p:cNvSpPr>
            <a:spLocks noGrp="1"/>
          </p:cNvSpPr>
          <p:nvPr>
            <p:ph idx="1"/>
          </p:nvPr>
        </p:nvSpPr>
        <p:spPr/>
        <p:txBody>
          <a:bodyPr/>
          <a:lstStyle/>
          <a:p>
            <a:pPr>
              <a:defRPr sz="1800"/>
            </a:pPr>
            <a:r>
              <a:t>chte beim Einbau und danach, wie der Raum zum Zeitpunkt des Einbaus beschaffen sein sollte.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Reparierbarkeit: Was lässt sich nacharbeiten?</a:t>
            </a:r>
          </a:p>
        </p:txBody>
      </p:sp>
      <p:sp>
        <p:nvSpPr>
          <p:cNvPr id="3" name="Content Placeholder 2"/>
          <p:cNvSpPr>
            <a:spLocks noGrp="1"/>
          </p:cNvSpPr>
          <p:nvPr>
            <p:ph idx="1"/>
          </p:nvPr>
        </p:nvSpPr>
        <p:spPr/>
        <p:txBody>
          <a:bodyPr/>
          <a:lstStyle/>
          <a:p>
            <a:pPr>
              <a:defRPr sz="1800"/>
            </a:pPr>
            <a:r>
              <a:t>Eine Holztreppe wird im Alltag ungleich beansprucht. Stufen und Trittkanten tragen am meisten, Geländer und Handlauf werden häufig angefasst, Wangen und Setzstufen sehen mehr als sie leisten. Wer nachhaltig plant, achtet auf einen Aufbau, bei dem die stark beanspruchten Teile einzeln überarbeitet werden können. Massivholzstufen lassen sich abschleifen und neu behandeln, solange die Aufbaustärke das erlaubt. Stufen mit Mehrschichtaufbau können bei intakter Mittellage mehrfach nachgeschliffen werden. Geländerstäbe und Handläufe lassen sich bei vergleichbarem Profil nachfertigen und einzeln ersetzen. Furnierte Stufen vertragen hingegen oft nur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Reparierbarkeit: Was lässt sich nacharbeiten?</a:t>
            </a:r>
          </a:p>
        </p:txBody>
      </p:sp>
      <p:sp>
        <p:nvSpPr>
          <p:cNvPr id="3" name="Content Placeholder 2"/>
          <p:cNvSpPr>
            <a:spLocks noGrp="1"/>
          </p:cNvSpPr>
          <p:nvPr>
            <p:ph idx="1"/>
          </p:nvPr>
        </p:nvSpPr>
        <p:spPr/>
        <p:txBody>
          <a:bodyPr/>
          <a:lstStyle/>
          <a:p>
            <a:pPr>
              <a:defRPr sz="1800"/>
            </a:pPr>
            <a:r>
              <a:t>enige Schleifgänge, versiegelte Oberflächen nur mit großem Aufwand. Eine klar trennbare Konstruktion, bei der Stufen, Wangen und Geländer nicht zu einem undurchsichtigen Block verklebt sind, erleichtert Teilaustausch und Nacharbeit erheblich.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Anfrage beim Anbieter</a:t>
            </a:r>
          </a:p>
        </p:txBody>
      </p:sp>
      <p:sp>
        <p:nvSpPr>
          <p:cNvPr id="3" name="Content Placeholder 2"/>
          <p:cNvSpPr>
            <a:spLocks noGrp="1"/>
          </p:cNvSpPr>
          <p:nvPr>
            <p:ph idx="1"/>
          </p:nvPr>
        </p:nvSpPr>
        <p:spPr/>
        <p:txBody>
          <a:bodyPr/>
          <a:lstStyle/>
          <a:p>
            <a:pPr>
              <a:defRPr sz="1800"/>
            </a:pPr>
            <a:r>
              <a:t>Eine nachvollziehbare Anfrage enthält mindestens folgende Angaben: Holzart mit Herkunftsregion, soweit nachvollziehbar; Sortierqualität, anschaulich beschrieben oder als Muster; Angabe zur vorgesehenen Holzfeuchte beim Einbau; Aufbau der Stufen – massiv, mehrschichtig oder furniert; Oberflächensystem mit Herstellerangabe; Befestigung und Verbindungen, insbesondere bei Stufen und Geländern; Hinweise, welche Bauteile einzeln austauschbar sind. Zwei Angebote mit derselben Holzart können dennoch unterschiedlich ausfallen, wenn Sortierung, Aufbau und Oberfläche abweichen. Erst der Vergleich dieser Angaben macht Angebote vergleichbar und schafft 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die Anfrage beim Anbieter</a:t>
            </a:r>
          </a:p>
        </p:txBody>
      </p:sp>
      <p:sp>
        <p:nvSpPr>
          <p:cNvPr id="3" name="Content Placeholder 2"/>
          <p:cNvSpPr>
            <a:spLocks noGrp="1"/>
          </p:cNvSpPr>
          <p:nvPr>
            <p:ph idx="1"/>
          </p:nvPr>
        </p:nvSpPr>
        <p:spPr/>
        <p:txBody>
          <a:bodyPr/>
          <a:lstStyle/>
          <a:p>
            <a:pPr>
              <a:defRPr sz="1800"/>
            </a:pPr>
            <a:r>
              <a:t>e Grundlage für eine informierte Entscheidung.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Nachhaltige Holztreppe: Herkunft, Sortierung und spätere Reparierbarkeit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