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hamburg/-/blob/af1b6ae1e49e1f919880340cca83d6a2470f5706/_posts/2026-10-31-alte-holztreppe-ausbauen-demontage-entsorgung-anschluss.md" TargetMode="External"/><Relationship Id="rId3" Type="http://schemas.openxmlformats.org/officeDocument/2006/relationships/hyperlink" Target="https://holzundhaus.github.io/holztreppehamburg/dateien/minimax-3dedef0ae1e8920f0c3e2de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Alte Holztreppe ausbauen: Demontage, Entsorgung und Anschluss vorbereiten · Erklärende Präsentation</a:t>
            </a:r>
          </a:p>
        </p:txBody>
      </p:sp>
      <p:sp>
        <p:nvSpPr>
          <p:cNvPr id="3" name="Content Placeholder 2"/>
          <p:cNvSpPr>
            <a:spLocks noGrp="1"/>
          </p:cNvSpPr>
          <p:nvPr>
            <p:ph idx="1"/>
          </p:nvPr>
        </p:nvSpPr>
        <p:spPr/>
        <p:txBody>
          <a:bodyPr/>
          <a:lstStyle/>
          <a:p>
            <a:r>
              <a:t>Überblick: Beim Ausbau einer alten Holztreppe entstehen schnell Arbeiten, die im sichtbaren Treppenlauf nicht erkennbar sind. Entscheidend ist deshalb eine klare Bestandsaufnahme: Welche Bauteile werden vollständig entfernt, welche bleiben erhalten, wer übernimmt Schutz und Entsorgung, und welche Voraussetzungen müssen an Wand, Decke und Boden geschaffen werden? Dieser Leitfaden strukturiert die Planung, bevor Demontage und Anschlussvorbereitung beginnen.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Vorab klären: Austausch oder Teilerneuerung</a:t>
            </a:r>
          </a:p>
        </p:txBody>
      </p:sp>
      <p:sp>
        <p:nvSpPr>
          <p:cNvPr id="3" name="Content Placeholder 2"/>
          <p:cNvSpPr>
            <a:spLocks noGrp="1"/>
          </p:cNvSpPr>
          <p:nvPr>
            <p:ph idx="1"/>
          </p:nvPr>
        </p:nvSpPr>
        <p:spPr/>
        <p:txBody>
          <a:bodyPr/>
          <a:lstStyle/>
          <a:p>
            <a:pPr>
              <a:defRPr sz="1800"/>
            </a:pPr>
            <a:r>
              <a:t>Nicht das Alter einer Holztreppe entscheidet über den Ausbau, sondern der geplante Zustand danach. Wird die Treppe vollständig ersetzt, müssen auch Geländer, Handlauf, Wangen, Bolzen, Brüstung und Anschlussbauteile aus dem Bestand herausgelöst werden. Ist nur eine Teilrenovierung vorgesehen, reicht möglicherweise ein kleinerer Arbeitsumfang. Diese Entscheidung sollte vor dem Angebot schriftlich feststehen. Hilfreich ist eine einfache Gliederung in Demontage, Entsorgung, bauseitige Vorarbeiten und Montagevorbereitung. So lässt sich später nachvollziehen, welcher Leistungsbestandteil wann erledigt wird und wo eine zusätzliche Prüfung erforderli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Vorab klären: Austausch oder Teilerneuerung</a:t>
            </a:r>
          </a:p>
        </p:txBody>
      </p:sp>
      <p:sp>
        <p:nvSpPr>
          <p:cNvPr id="3" name="Content Placeholder 2"/>
          <p:cNvSpPr>
            <a:spLocks noGrp="1"/>
          </p:cNvSpPr>
          <p:nvPr>
            <p:ph idx="1"/>
          </p:nvPr>
        </p:nvSpPr>
        <p:spPr/>
        <p:txBody>
          <a:bodyPr/>
          <a:lstStyle/>
          <a:p>
            <a:pPr>
              <a:defRPr sz="1800"/>
            </a:pPr>
            <a:r>
              <a:t>ch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Bauteile erfassen und Zugang prüfen</a:t>
            </a:r>
          </a:p>
        </p:txBody>
      </p:sp>
      <p:sp>
        <p:nvSpPr>
          <p:cNvPr id="3" name="Content Placeholder 2"/>
          <p:cNvSpPr>
            <a:spLocks noGrp="1"/>
          </p:cNvSpPr>
          <p:nvPr>
            <p:ph idx="1"/>
          </p:nvPr>
        </p:nvSpPr>
        <p:spPr/>
        <p:txBody>
          <a:bodyPr/>
          <a:lstStyle/>
          <a:p>
            <a:pPr>
              <a:defRPr sz="1800"/>
            </a:pPr>
            <a:r>
              <a:t>Eine Holztreppe besteht nicht nur aus sichtbaren Stufen. Zu erfassen sind Setzstufen, Wangen oder Holme, Handlauf, Pfosten, Knieleisten, Brüstungen sowie Befestigungen an Decke und Boden. Verdeckte Stahlwinkel, Zapfen oder eingelassene Verbinder können erst während des Ausbaus sichtbar werden. Auch der Transportweg ist Teil der Vorbereitung: Lange Handläufe und Wangen benötigen möglicherweise mehrere Personen oder müssen zerlegt werden. Vor Beginn sollten Stellflächen, Abdeckungen und der Weg nach draußen festgelegt sein. So wird vermieden, dass lose Bauteile beim Transport Wände, Verkleidungen oder angrenzende Böden beschädigen.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Angrenzende Bauteile schützen und Befunde sichern</a:t>
            </a:r>
          </a:p>
        </p:txBody>
      </p:sp>
      <p:sp>
        <p:nvSpPr>
          <p:cNvPr id="3" name="Content Placeholder 2"/>
          <p:cNvSpPr>
            <a:spLocks noGrp="1"/>
          </p:cNvSpPr>
          <p:nvPr>
            <p:ph idx="1"/>
          </p:nvPr>
        </p:nvSpPr>
        <p:spPr/>
        <p:txBody>
          <a:bodyPr/>
          <a:lstStyle/>
          <a:p>
            <a:pPr>
              <a:defRPr sz="1800"/>
            </a:pPr>
            <a:r>
              <a:t>Vor dem Lösen der ersten Befestigung ist der Arbeitsbereich zu sichern. Angrenzende Böden und Oberflächen sollten abgedeckt, der Treppenraum gegen herabfallende Teile geschützt und lose Materialien entfernt werden. Besonders zu beachten sind Putz und Verkleidungen an Auflagerstellen, eingebundene untere Antritte sowie Deckenbereiche, in denen die Treppe verankert war. Fotos von Wandtaschen, Aussparungen, Bohrlöchern und erkennbaren Schäden schaffen einen nachvollziehbaren Zustandsnachweis. Das ist besonders hilfreich, wenn die neue Treppe später auf diese Geometrie abgestimmt werden muss. Verdeckte Schäden sollten außerdem nicht ungeklärt 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Angrenzende Bauteile schützen und Befunde sichern</a:t>
            </a:r>
          </a:p>
        </p:txBody>
      </p:sp>
      <p:sp>
        <p:nvSpPr>
          <p:cNvPr id="3" name="Content Placeholder 2"/>
          <p:cNvSpPr>
            <a:spLocks noGrp="1"/>
          </p:cNvSpPr>
          <p:nvPr>
            <p:ph idx="1"/>
          </p:nvPr>
        </p:nvSpPr>
        <p:spPr/>
        <p:txBody>
          <a:bodyPr/>
          <a:lstStyle/>
          <a:p>
            <a:pPr>
              <a:defRPr sz="1800"/>
            </a:pPr>
            <a:r>
              <a:t>iben, bevor Befestigungen für den Ersatz festgelegt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Entsorgung nicht pauschal behandeln</a:t>
            </a:r>
          </a:p>
        </p:txBody>
      </p:sp>
      <p:sp>
        <p:nvSpPr>
          <p:cNvPr id="3" name="Content Placeholder 2"/>
          <p:cNvSpPr>
            <a:spLocks noGrp="1"/>
          </p:cNvSpPr>
          <p:nvPr>
            <p:ph idx="1"/>
          </p:nvPr>
        </p:nvSpPr>
        <p:spPr/>
        <p:txBody>
          <a:bodyPr/>
          <a:lstStyle/>
          <a:p>
            <a:pPr>
              <a:defRPr sz="1800"/>
            </a:pPr>
            <a:r>
              <a:t>Ausgebaute Holzteile können unterschiedlich behandlungsbedürftig sein. Unbehandeltes oder geöltes Massivholz, beschichtetes Holz, Klebstoffreste sowie Metallbeschläge sollten getrennt betrachtet und sortiert gesammelt werden. Die vorhandenen Angaben zu Lacken und Klebern sind dabei relevant, weil sie die Einordnung als Altholz beeinflussen können. Staub und grobe Schleifreste sind bereits während der Arbeiten aufzufangen. Eine sichere Aussage zur Entsorgung ist ohne Kenntnis der verwendeten Produkte und der örtlichen Gegebenheiten nicht möglich. Deshalb empfiehlt es sich, die Materialtrennung mit dem ausführenden Betrieb oder Entsorgungsunter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Entsorgung nicht pauschal behandeln</a:t>
            </a:r>
          </a:p>
        </p:txBody>
      </p:sp>
      <p:sp>
        <p:nvSpPr>
          <p:cNvPr id="3" name="Content Placeholder 2"/>
          <p:cNvSpPr>
            <a:spLocks noGrp="1"/>
          </p:cNvSpPr>
          <p:nvPr>
            <p:ph idx="1"/>
          </p:nvPr>
        </p:nvSpPr>
        <p:spPr/>
        <p:txBody>
          <a:bodyPr/>
          <a:lstStyle/>
          <a:p>
            <a:pPr>
              <a:defRPr sz="1800"/>
            </a:pPr>
            <a:r>
              <a:t>nehmen abzustimmen, statt sämtliche Rückstände ungeprüft zu vermischen.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Anschlussvorbereitung verbindlich übergeben</a:t>
            </a:r>
          </a:p>
        </p:txBody>
      </p:sp>
      <p:sp>
        <p:nvSpPr>
          <p:cNvPr id="3" name="Content Placeholder 2"/>
          <p:cNvSpPr>
            <a:spLocks noGrp="1"/>
          </p:cNvSpPr>
          <p:nvPr>
            <p:ph idx="1"/>
          </p:nvPr>
        </p:nvSpPr>
        <p:spPr/>
        <p:txBody>
          <a:bodyPr/>
          <a:lstStyle/>
          <a:p>
            <a:pPr>
              <a:defRPr sz="1800"/>
            </a:pPr>
            <a:r>
              <a:t>Nach der Demontage wird überprüft, ob Deckenöffnung, Wandtaschen und Bodenbereich für die neue Treppe geeignet sind. Maßabweichungen, Ausbrüche, alte Bohrlöcher, Kleberreste oder beschädigte Beläge können sichtbar werden und eine Anpassung erfordern. Diese Punkte sollten dokumentiert und in die weitere Planung übernommen werden. Besonders hilfreich ist eine klare Zuständigkeitsgrenze: Welche Arbeiten übernimmt der Demontagebetrieb, welche müssen vor der Montage bauseitig erfolgen? Für die weitere Anschlussplanung bietet die Übersicht zur Demontage sowie zur Vorbereitung von Wand-, Decken- und Bodenanschluss die passende Grundlage. So lassen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Anschlussvorbereitung verbindlich übergeben</a:t>
            </a:r>
          </a:p>
        </p:txBody>
      </p:sp>
      <p:sp>
        <p:nvSpPr>
          <p:cNvPr id="3" name="Content Placeholder 2"/>
          <p:cNvSpPr>
            <a:spLocks noGrp="1"/>
          </p:cNvSpPr>
          <p:nvPr>
            <p:ph idx="1"/>
          </p:nvPr>
        </p:nvSpPr>
        <p:spPr/>
        <p:txBody>
          <a:bodyPr/>
          <a:lstStyle/>
          <a:p>
            <a:pPr>
              <a:defRPr sz="1800"/>
            </a:pPr>
            <a:r>
              <a:t>ich erkennbare Anpassungen frühzeitig einplanen und Zuständigkeiten eindeutig dokumentieren.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Alte Holztreppe ausbauen: Demontage, Entsorgung und Anschluss vorbereiten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