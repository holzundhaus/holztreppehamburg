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hamburg.wordpress.com/2026/10/30/treppenhaus-altbau-daemmen-waermebruecken-geschossdecke-holztreppe/" TargetMode="External"/><Relationship Id="rId3" Type="http://schemas.openxmlformats.org/officeDocument/2006/relationships/hyperlink" Target="https://holzundhaus.github.io/holztreppehamburg/dateien/minimax-9dffbf39ac26f657daf667f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Treppenhaus im Altbau dämmen: Wärmebrücken an der Geschossdecke erkennen und mit der neuen Holztreppe abstimmen · Erklärende Präsentation</a:t>
            </a:r>
          </a:p>
        </p:txBody>
      </p:sp>
      <p:sp>
        <p:nvSpPr>
          <p:cNvPr id="3" name="Content Placeholder 2"/>
          <p:cNvSpPr>
            <a:spLocks noGrp="1"/>
          </p:cNvSpPr>
          <p:nvPr>
            <p:ph idx="1"/>
          </p:nvPr>
        </p:nvSpPr>
        <p:spPr/>
        <p:txBody>
          <a:bodyPr/>
          <a:lstStyle/>
          <a:p>
            <a:r>
              <a:t>Überblick: Eine neue Holztreppe im Altbau ist nicht allein eine Treppenentscheidung: Ihre Anschlüsse berühren Wand, Decke, Dämmung und Luftdichtung. Der folgende Leitfaden hilft Eigentümerinnen und Eigentümern, die Baustelle vor der Angebotsphase strukturiert zu erfassen, Verantwortlichkeiten zu trennen und einen abstimmbaren Ablauf zu entwickeln.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drei Anschlussbereiche zuerst untersucht werden müssen</a:t>
            </a:r>
          </a:p>
        </p:txBody>
      </p:sp>
      <p:sp>
        <p:nvSpPr>
          <p:cNvPr id="3" name="Content Placeholder 2"/>
          <p:cNvSpPr>
            <a:spLocks noGrp="1"/>
          </p:cNvSpPr>
          <p:nvPr>
            <p:ph idx="1"/>
          </p:nvPr>
        </p:nvSpPr>
        <p:spPr/>
        <p:txBody>
          <a:bodyPr/>
          <a:lstStyle/>
          <a:p>
            <a:pPr>
              <a:defRPr sz="1800"/>
            </a:pPr>
            <a:r>
              <a:t>Für die Planung genügt zunächst eine grobe Bestandsaufnahme, die zwischen drei Bereichen unterscheidet. Am Übergang der Geschossdecke zur Außenwand wird sichtbar, ob eine durchgehende Dämmebene vorhanden ist und wie der Deckenrand aufgebaut ist. Rund um die Treppenöffnung interessieren der Rand des Deckenausschnitts, der vorhandene Bodenaufbau und die Anschlussstellen für die neue Treppe. Am Wandanschluss ist zu klären, ob es sich um eine Außenwand, eine Wand zum unbeheizten Treppenhaus oder eine Innenwand handelt. Diese Zuordnung ist wichtig, weil spätere Innendämmungen, Befestigungen und die Luftdichtung unterschiedliche Anforderungen an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drei Anschlussbereiche zuerst untersucht werden müssen</a:t>
            </a:r>
          </a:p>
        </p:txBody>
      </p:sp>
      <p:sp>
        <p:nvSpPr>
          <p:cNvPr id="3" name="Content Placeholder 2"/>
          <p:cNvSpPr>
            <a:spLocks noGrp="1"/>
          </p:cNvSpPr>
          <p:nvPr>
            <p:ph idx="1"/>
          </p:nvPr>
        </p:nvSpPr>
        <p:spPr/>
        <p:txBody>
          <a:bodyPr/>
          <a:lstStyle/>
          <a:p>
            <a:pPr>
              <a:defRPr sz="1800"/>
            </a:pPr>
            <a:r>
              <a:t>eselbe Fläche stellen. Ergänzend zum passenden Beitrag können mit dem Treppenfachbetrieb die erwarteten Befestigungs- und Anschlusspunkte der Holztreppe aufgenommen werden. So wird aus dem Bestand eine nachvollziehbare Planungsgrundlage, ohne vor der Fachprüfung pauschale Dämmstärken oder konstruktive Lösungen festzulegen.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eine belastbare Bestandsaufnahme erstellt wird</a:t>
            </a:r>
          </a:p>
        </p:txBody>
      </p:sp>
      <p:sp>
        <p:nvSpPr>
          <p:cNvPr id="3" name="Content Placeholder 2"/>
          <p:cNvSpPr>
            <a:spLocks noGrp="1"/>
          </p:cNvSpPr>
          <p:nvPr>
            <p:ph idx="1"/>
          </p:nvPr>
        </p:nvSpPr>
        <p:spPr/>
        <p:txBody>
          <a:bodyPr/>
          <a:lstStyle/>
          <a:p>
            <a:pPr>
              <a:defRPr sz="1800"/>
            </a:pPr>
            <a:r>
              <a:t>Für die Abstimmung zwischen den beteiligten Gewerken sollten Baujahr, Geschossdeckenkonstruktion, vorhandene Dämmung, Wandaufbau und Ausbau der Treppenöffnung dokumentiert werden. Hilfreich sind Grundrisse, Baubeschreibungen und aussagekräftige Fotos. Ergänzend lassen sich sichtbare Verfärbungen, Feuchtigkeitsspuren oder besonders kühle Oberflächen markieren. Diese Beobachtungen ersetzen keine fachliche Diagnose, helfen aber, die anschließende Besichtigung gezielt vorzubereiten. Besonders wichtig ist eine gemeinsame Ortsbegehung: Treppenfachbetrieb, Dämmungs- oder Trockenbauunternehmen und bei Bedarf weitere beteiligte Fachkräfte können dabei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eine belastbare Bestandsaufnahme erstellt wird</a:t>
            </a:r>
          </a:p>
        </p:txBody>
      </p:sp>
      <p:sp>
        <p:nvSpPr>
          <p:cNvPr id="3" name="Content Placeholder 2"/>
          <p:cNvSpPr>
            <a:spLocks noGrp="1"/>
          </p:cNvSpPr>
          <p:nvPr>
            <p:ph idx="1"/>
          </p:nvPr>
        </p:nvSpPr>
        <p:spPr/>
        <p:txBody>
          <a:bodyPr/>
          <a:lstStyle/>
          <a:p>
            <a:pPr>
              <a:defRPr sz="1800"/>
            </a:pPr>
            <a:r>
              <a:t> feststellen, welche Eingriffe voneinander abhängen. Für jede relevante Stelle sollte notiert werden, ob bereits eine Dämmung vorhanden ist, ob eine Ergänzung geplant wird und wer die spätere Kontrolle übernimmt. So bleiben Schnittstellen sichtbar und spätere Verantwortungsfragen eindeutiger.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welcher Reihenfolge Dämmung und Treppenmontage geplant werden sollten</a:t>
            </a:r>
          </a:p>
        </p:txBody>
      </p:sp>
      <p:sp>
        <p:nvSpPr>
          <p:cNvPr id="3" name="Content Placeholder 2"/>
          <p:cNvSpPr>
            <a:spLocks noGrp="1"/>
          </p:cNvSpPr>
          <p:nvPr>
            <p:ph idx="1"/>
          </p:nvPr>
        </p:nvSpPr>
        <p:spPr/>
        <p:txBody>
          <a:bodyPr/>
          <a:lstStyle/>
          <a:p>
            <a:pPr>
              <a:defRPr sz="1800"/>
            </a:pPr>
            <a:r>
              <a:t>Die sinnvolle Reihenfolge richtet sich vor allem danach, ob Wand- oder Deckenbereiche während des Vorhabens ergänzt werden. Ist eine Innendämmung der betroffenen Wand vorgesehen, sollte sie nach dem im Hauptbeitrag zur Treppenhausdämmung beschriebenen Grundsatz vor der Treppenmontage ausgeführt werden. Dann kann der Treppenanschluss in eine vorhandene Dämmebene einbinden, und Wandfläche sowie Anschluss müssen später nicht doppelt überarbeitet werden. Vorher ist jedoch zu klären, ob der gewünschte Aufbau mit Decke, Treppenöffnung und Luftdichtung zusammenpasst. Wird zuerst die alte Treppe entfernt, können Öffnung und Deckenrand besser zugängli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welcher Reihenfolge Dämmung und Treppenmontage geplant werden sollten</a:t>
            </a:r>
          </a:p>
        </p:txBody>
      </p:sp>
      <p:sp>
        <p:nvSpPr>
          <p:cNvPr id="3" name="Content Placeholder 2"/>
          <p:cNvSpPr>
            <a:spLocks noGrp="1"/>
          </p:cNvSpPr>
          <p:nvPr>
            <p:ph idx="1"/>
          </p:nvPr>
        </p:nvSpPr>
        <p:spPr/>
        <p:txBody>
          <a:bodyPr/>
          <a:lstStyle/>
          <a:p>
            <a:pPr>
              <a:defRPr sz="1800"/>
            </a:pPr>
            <a:r>
              <a:t>ch sein; anschließend sind Dämmung, Anschluss und Montage aufeinander abzustimmen. Eine belastbare Leistungsbeschreibung legt diese Abhängigkeiten fest, statt pauschal eine Gewerkereihenfolge zu behaupten. Auch Demontage, Anpassungsarbeiten und vorbereitende Maßnahmen sollten eindeutig zugeordnet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eine klare Leistungsbeschreibung enthalten muss</a:t>
            </a:r>
          </a:p>
        </p:txBody>
      </p:sp>
      <p:sp>
        <p:nvSpPr>
          <p:cNvPr id="3" name="Content Placeholder 2"/>
          <p:cNvSpPr>
            <a:spLocks noGrp="1"/>
          </p:cNvSpPr>
          <p:nvPr>
            <p:ph idx="1"/>
          </p:nvPr>
        </p:nvSpPr>
        <p:spPr/>
        <p:txBody>
          <a:bodyPr/>
          <a:lstStyle/>
          <a:p>
            <a:pPr>
              <a:defRPr sz="1800"/>
            </a:pPr>
            <a:r>
              <a:t>Eine hilfreiche Leistungsbeschreibung trennt die Zuständigkeiten der beteiligten Betriebe. Für die Holztreppe gehören Geometrie, Befestigungsart, Anschluss an Wand und Decke sowie der Umgang mit vorhandenen Öffnungen dazu. Für die Dämm- oder Trockenbauarbeiten sind vorhandene Dämmebenen, zu ergänzende Abschnitte, die geplante Einbindung und die Herstellung des Anschlusses festzuhalten. Wichtig ist außerdem, welche Arbeiten vor der Montage abgeschlossen sein müssen und wer erkennt, wenn der vorgefundene Zustand von der Annahme abweicht. Unklarheiten sollten als offene Punkte erscheinen, nicht durch pauschale Annahmen verdeckt werden. Bei der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eine klare Leistungsbeschreibung enthalten muss</a:t>
            </a:r>
          </a:p>
        </p:txBody>
      </p:sp>
      <p:sp>
        <p:nvSpPr>
          <p:cNvPr id="3" name="Content Placeholder 2"/>
          <p:cNvSpPr>
            <a:spLocks noGrp="1"/>
          </p:cNvSpPr>
          <p:nvPr>
            <p:ph idx="1"/>
          </p:nvPr>
        </p:nvSpPr>
        <p:spPr/>
        <p:txBody>
          <a:bodyPr/>
          <a:lstStyle/>
          <a:p>
            <a:pPr>
              <a:defRPr sz="1800"/>
            </a:pPr>
            <a:r>
              <a:t>ngebotseinholung können ergänzend Ausführungspläne, Detailansichten der Anschlüsse und eine abgestimmte Reihenfolge angefordert werden. So lassen sich Angebote vergleichen, ohne dass unterschiedliche Leistungsumfänge unter ähnlichen Bezeichnungen erscheinen.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Abschlüsse vor der Montage kontrolliert werden sollten</a:t>
            </a:r>
          </a:p>
        </p:txBody>
      </p:sp>
      <p:sp>
        <p:nvSpPr>
          <p:cNvPr id="3" name="Content Placeholder 2"/>
          <p:cNvSpPr>
            <a:spLocks noGrp="1"/>
          </p:cNvSpPr>
          <p:nvPr>
            <p:ph idx="1"/>
          </p:nvPr>
        </p:nvSpPr>
        <p:spPr/>
        <p:txBody>
          <a:bodyPr/>
          <a:lstStyle/>
          <a:p>
            <a:pPr>
              <a:defRPr sz="1800"/>
            </a:pPr>
            <a:r>
              <a:t>Vor der Montage sollte ein kurzer Übergabepunkt den erreichten Zustand festhalten. Zu prüfen sind die dokumentierten Dämmabschnitte, die vorbereiteten Wand- und Deckenflächen, die Maße der Treppenöffnung sowie die zugänglichen Befestigungsbereiche. Außerdem muss geklärt sein, ob die geplante Luftdichtungsebene erhalten bleibt und ob Anschlussstellen nachträglich zugänglich sind. Offene Punkte gehören vor Beginn der Treppenarbeiten geklärt, damit die Montage nicht auf unklaren Annahmen beruht. Nach der Montage können sichtbare Mängel an der Verbindung von Wange, Antritt und Decke aufgenommen und mit den Beteiligten eingeordnet werden. Ein kurz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Abschlüsse vor der Montage kontrolliert werden sollten</a:t>
            </a:r>
          </a:p>
        </p:txBody>
      </p:sp>
      <p:sp>
        <p:nvSpPr>
          <p:cNvPr id="3" name="Content Placeholder 2"/>
          <p:cNvSpPr>
            <a:spLocks noGrp="1"/>
          </p:cNvSpPr>
          <p:nvPr>
            <p:ph idx="1"/>
          </p:nvPr>
        </p:nvSpPr>
        <p:spPr/>
        <p:txBody>
          <a:bodyPr/>
          <a:lstStyle/>
          <a:p>
            <a:pPr>
              <a:defRPr sz="1800"/>
            </a:pPr>
            <a:r>
              <a:t>es Übergabeprotokoll mit Fotos und offenen Punkten schafft eine belastbare Grundlage für die weitere Arbeit am Treppenhaus.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Treppenhaus im Altbau dämmen: Wärmebrücken an der Geschossdecke erkennen und mit der neuen Holztreppe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